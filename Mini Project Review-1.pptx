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9" r:id="rId6"/>
    <p:sldId id="261" r:id="rId7"/>
    <p:sldId id="262" r:id="rId8"/>
    <p:sldId id="260" r:id="rId9"/>
    <p:sldId id="268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8" d="100"/>
          <a:sy n="58" d="100"/>
        </p:scale>
        <p:origin x="152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3881A05GJ ." userId="6aeecc159e95c9c5" providerId="LiveId" clId="{B360807D-616A-4785-85C7-FD91FA8057B3}"/>
    <pc:docChg chg="undo custSel addSld modSld">
      <pc:chgData name="23881A05GJ ." userId="6aeecc159e95c9c5" providerId="LiveId" clId="{B360807D-616A-4785-85C7-FD91FA8057B3}" dt="2025-12-01T14:26:59.882" v="143" actId="404"/>
      <pc:docMkLst>
        <pc:docMk/>
      </pc:docMkLst>
      <pc:sldChg chg="modSp mod">
        <pc:chgData name="23881A05GJ ." userId="6aeecc159e95c9c5" providerId="LiveId" clId="{B360807D-616A-4785-85C7-FD91FA8057B3}" dt="2025-12-01T14:23:28.532" v="100" actId="122"/>
        <pc:sldMkLst>
          <pc:docMk/>
          <pc:sldMk cId="0" sldId="256"/>
        </pc:sldMkLst>
        <pc:spChg chg="mod">
          <ac:chgData name="23881A05GJ ." userId="6aeecc159e95c9c5" providerId="LiveId" clId="{B360807D-616A-4785-85C7-FD91FA8057B3}" dt="2025-12-01T14:23:28.532" v="100" actId="122"/>
          <ac:spMkLst>
            <pc:docMk/>
            <pc:sldMk cId="0" sldId="256"/>
            <ac:spMk id="3" creationId="{00000000-0000-0000-0000-000000000000}"/>
          </ac:spMkLst>
        </pc:spChg>
        <pc:graphicFrameChg chg="mod modGraphic">
          <ac:chgData name="23881A05GJ ." userId="6aeecc159e95c9c5" providerId="LiveId" clId="{B360807D-616A-4785-85C7-FD91FA8057B3}" dt="2025-12-01T14:23:21.432" v="99" actId="1076"/>
          <ac:graphicFrameMkLst>
            <pc:docMk/>
            <pc:sldMk cId="0" sldId="256"/>
            <ac:graphicFrameMk id="5" creationId="{FFB7C7A2-344E-5673-0549-1169E8DDC3DC}"/>
          </ac:graphicFrameMkLst>
        </pc:graphicFrameChg>
      </pc:sldChg>
      <pc:sldChg chg="modSp mod">
        <pc:chgData name="23881A05GJ ." userId="6aeecc159e95c9c5" providerId="LiveId" clId="{B360807D-616A-4785-85C7-FD91FA8057B3}" dt="2025-12-01T14:17:02.692" v="14" actId="403"/>
        <pc:sldMkLst>
          <pc:docMk/>
          <pc:sldMk cId="0" sldId="257"/>
        </pc:sldMkLst>
        <pc:spChg chg="mod">
          <ac:chgData name="23881A05GJ ." userId="6aeecc159e95c9c5" providerId="LiveId" clId="{B360807D-616A-4785-85C7-FD91FA8057B3}" dt="2025-12-01T14:17:02.692" v="14" actId="403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23881A05GJ ." userId="6aeecc159e95c9c5" providerId="LiveId" clId="{B360807D-616A-4785-85C7-FD91FA8057B3}" dt="2025-12-01T14:16:53.702" v="13" actId="403"/>
        <pc:sldMkLst>
          <pc:docMk/>
          <pc:sldMk cId="0" sldId="258"/>
        </pc:sldMkLst>
        <pc:spChg chg="mod">
          <ac:chgData name="23881A05GJ ." userId="6aeecc159e95c9c5" providerId="LiveId" clId="{B360807D-616A-4785-85C7-FD91FA8057B3}" dt="2025-12-01T14:16:53.702" v="13" actId="403"/>
          <ac:spMkLst>
            <pc:docMk/>
            <pc:sldMk cId="0" sldId="258"/>
            <ac:spMk id="7" creationId="{7CF27310-56F4-13A8-B1EF-E6BA8A08E73B}"/>
          </ac:spMkLst>
        </pc:spChg>
      </pc:sldChg>
      <pc:sldChg chg="modSp mod">
        <pc:chgData name="23881A05GJ ." userId="6aeecc159e95c9c5" providerId="LiveId" clId="{B360807D-616A-4785-85C7-FD91FA8057B3}" dt="2025-12-01T14:18:16.805" v="37" actId="20577"/>
        <pc:sldMkLst>
          <pc:docMk/>
          <pc:sldMk cId="0" sldId="259"/>
        </pc:sldMkLst>
        <pc:spChg chg="mod">
          <ac:chgData name="23881A05GJ ." userId="6aeecc159e95c9c5" providerId="LiveId" clId="{B360807D-616A-4785-85C7-FD91FA8057B3}" dt="2025-12-01T14:14:29.067" v="0" actId="14100"/>
          <ac:spMkLst>
            <pc:docMk/>
            <pc:sldMk cId="0" sldId="259"/>
            <ac:spMk id="2" creationId="{00000000-0000-0000-0000-000000000000}"/>
          </ac:spMkLst>
        </pc:spChg>
        <pc:spChg chg="mod">
          <ac:chgData name="23881A05GJ ." userId="6aeecc159e95c9c5" providerId="LiveId" clId="{B360807D-616A-4785-85C7-FD91FA8057B3}" dt="2025-12-01T14:18:16.805" v="37" actId="20577"/>
          <ac:spMkLst>
            <pc:docMk/>
            <pc:sldMk cId="0" sldId="259"/>
            <ac:spMk id="9" creationId="{644C6200-7F8C-6552-9D91-86325FE7C473}"/>
          </ac:spMkLst>
        </pc:spChg>
      </pc:sldChg>
      <pc:sldChg chg="modSp mod">
        <pc:chgData name="23881A05GJ ." userId="6aeecc159e95c9c5" providerId="LiveId" clId="{B360807D-616A-4785-85C7-FD91FA8057B3}" dt="2025-12-01T14:26:59.882" v="143" actId="404"/>
        <pc:sldMkLst>
          <pc:docMk/>
          <pc:sldMk cId="0" sldId="260"/>
        </pc:sldMkLst>
        <pc:spChg chg="mod">
          <ac:chgData name="23881A05GJ ." userId="6aeecc159e95c9c5" providerId="LiveId" clId="{B360807D-616A-4785-85C7-FD91FA8057B3}" dt="2025-12-01T14:26:59.882" v="143" actId="404"/>
          <ac:spMkLst>
            <pc:docMk/>
            <pc:sldMk cId="0" sldId="260"/>
            <ac:spMk id="9" creationId="{129B2E81-1771-2931-0CE7-8A2F24622D64}"/>
          </ac:spMkLst>
        </pc:spChg>
      </pc:sldChg>
      <pc:sldChg chg="delSp modSp mod">
        <pc:chgData name="23881A05GJ ." userId="6aeecc159e95c9c5" providerId="LiveId" clId="{B360807D-616A-4785-85C7-FD91FA8057B3}" dt="2025-12-01T14:23:50.886" v="102" actId="1076"/>
        <pc:sldMkLst>
          <pc:docMk/>
          <pc:sldMk cId="0" sldId="265"/>
        </pc:sldMkLst>
        <pc:spChg chg="mod">
          <ac:chgData name="23881A05GJ ." userId="6aeecc159e95c9c5" providerId="LiveId" clId="{B360807D-616A-4785-85C7-FD91FA8057B3}" dt="2025-12-01T14:23:50.886" v="102" actId="1076"/>
          <ac:spMkLst>
            <pc:docMk/>
            <pc:sldMk cId="0" sldId="265"/>
            <ac:spMk id="2" creationId="{00000000-0000-0000-0000-000000000000}"/>
          </ac:spMkLst>
        </pc:spChg>
        <pc:spChg chg="del">
          <ac:chgData name="23881A05GJ ." userId="6aeecc159e95c9c5" providerId="LiveId" clId="{B360807D-616A-4785-85C7-FD91FA8057B3}" dt="2025-12-01T14:23:42.803" v="101" actId="478"/>
          <ac:spMkLst>
            <pc:docMk/>
            <pc:sldMk cId="0" sldId="265"/>
            <ac:spMk id="3" creationId="{00000000-0000-0000-0000-000000000000}"/>
          </ac:spMkLst>
        </pc:spChg>
      </pc:sldChg>
      <pc:sldChg chg="addSp delSp modSp new mod">
        <pc:chgData name="23881A05GJ ." userId="6aeecc159e95c9c5" providerId="LiveId" clId="{B360807D-616A-4785-85C7-FD91FA8057B3}" dt="2025-12-01T14:21:49.968" v="95" actId="404"/>
        <pc:sldMkLst>
          <pc:docMk/>
          <pc:sldMk cId="2419352145" sldId="269"/>
        </pc:sldMkLst>
        <pc:spChg chg="del">
          <ac:chgData name="23881A05GJ ." userId="6aeecc159e95c9c5" providerId="LiveId" clId="{B360807D-616A-4785-85C7-FD91FA8057B3}" dt="2025-12-01T14:18:25.143" v="39" actId="478"/>
          <ac:spMkLst>
            <pc:docMk/>
            <pc:sldMk cId="2419352145" sldId="269"/>
            <ac:spMk id="2" creationId="{D91BC772-7718-CDC6-480D-3999004B8FCE}"/>
          </ac:spMkLst>
        </pc:spChg>
        <pc:spChg chg="mod">
          <ac:chgData name="23881A05GJ ." userId="6aeecc159e95c9c5" providerId="LiveId" clId="{B360807D-616A-4785-85C7-FD91FA8057B3}" dt="2025-12-01T14:21:49.968" v="95" actId="404"/>
          <ac:spMkLst>
            <pc:docMk/>
            <pc:sldMk cId="2419352145" sldId="269"/>
            <ac:spMk id="3" creationId="{52D70AAC-0BDA-7351-E2A4-83AB85153108}"/>
          </ac:spMkLst>
        </pc:spChg>
        <pc:spChg chg="add">
          <ac:chgData name="23881A05GJ ." userId="6aeecc159e95c9c5" providerId="LiveId" clId="{B360807D-616A-4785-85C7-FD91FA8057B3}" dt="2025-12-01T14:18:52.023" v="45"/>
          <ac:spMkLst>
            <pc:docMk/>
            <pc:sldMk cId="2419352145" sldId="269"/>
            <ac:spMk id="5" creationId="{0EFC25CD-D6A1-7E39-3DEC-539344EBF0E1}"/>
          </ac:spMkLst>
        </pc:spChg>
        <pc:spChg chg="add">
          <ac:chgData name="23881A05GJ ." userId="6aeecc159e95c9c5" providerId="LiveId" clId="{B360807D-616A-4785-85C7-FD91FA8057B3}" dt="2025-12-01T14:18:57.567" v="50"/>
          <ac:spMkLst>
            <pc:docMk/>
            <pc:sldMk cId="2419352145" sldId="269"/>
            <ac:spMk id="6" creationId="{7733E08F-9F6E-D967-293B-03B76F19666C}"/>
          </ac:spMkLst>
        </pc:spChg>
        <pc:spChg chg="add mod">
          <ac:chgData name="23881A05GJ ." userId="6aeecc159e95c9c5" providerId="LiveId" clId="{B360807D-616A-4785-85C7-FD91FA8057B3}" dt="2025-12-01T14:19:28.512" v="54"/>
          <ac:spMkLst>
            <pc:docMk/>
            <pc:sldMk cId="2419352145" sldId="269"/>
            <ac:spMk id="7" creationId="{B64E4315-BDBC-DDA0-F6F4-BF1B85468DA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1E769C-B82C-4EBF-AFDE-30368C9013FA}" type="datetimeFigureOut">
              <a:rPr lang="en-IN" smtClean="0"/>
              <a:pPr/>
              <a:t>01-12-2025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CEC1C6-DC07-4644-8E97-0F093327BA8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170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F6E1A-79D4-4D66-96A9-02641756F64C}" type="datetime1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006F6-D2CD-4DB9-9FF0-408322DF33B8}" type="datetime1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ACE2A9-81E9-C415-C441-00DB3510AF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44547" y="155369"/>
            <a:ext cx="1030488" cy="80506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BE974FA-3FFF-7EB8-AC73-B693063A5F2A}"/>
              </a:ext>
            </a:extLst>
          </p:cNvPr>
          <p:cNvSpPr/>
          <p:nvPr userDrawn="1"/>
        </p:nvSpPr>
        <p:spPr>
          <a:xfrm>
            <a:off x="59634" y="52318"/>
            <a:ext cx="8994913" cy="6805681"/>
          </a:xfrm>
          <a:prstGeom prst="rect">
            <a:avLst/>
          </a:prstGeom>
          <a:noFill/>
          <a:ln w="571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0F3E0-320B-4D14-8163-71670D2A8714}" type="datetime1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264D-EDA7-4520-847D-75D428A23488}" type="datetime1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BB296-D3D6-4976-914C-C0AA2A364825}" type="datetime1">
              <a:rPr lang="en-US" smtClean="0"/>
              <a:pPr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64B5E-B29E-44C1-B11E-DFB87F8CBE91}" type="datetime1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3388D-7596-40C4-8D6A-FBC9A5300160}" type="datetime1">
              <a:rPr lang="en-US" smtClean="0"/>
              <a:pPr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E444E-C341-47B3-8EF7-7471E07CEE7E}" type="datetime1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8120A-6733-425C-9AB1-AC6938AE6D96}" type="datetime1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B8F7-A5B2-4141-99E2-A507119EDB81}" type="datetime1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4DE0-104F-4C7B-9332-ADB8CD27A54A}" type="datetime1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EE183-FF20-4E68-A843-2ACC3178A355}" type="datetime1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AIML &amp; AIDS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716" y="326571"/>
            <a:ext cx="8251370" cy="1284515"/>
          </a:xfrm>
        </p:spPr>
        <p:txBody>
          <a:bodyPr>
            <a:normAutofit fontScale="90000"/>
          </a:bodyPr>
          <a:lstStyle/>
          <a:p>
            <a:pPr>
              <a:defRPr sz="4400" b="1">
                <a:solidFill>
                  <a:srgbClr val="000000"/>
                </a:solidFill>
                <a:latin typeface="Calibri"/>
              </a:defRPr>
            </a:pPr>
            <a:br>
              <a:rPr lang="en-IN" sz="4000" dirty="0"/>
            </a:br>
            <a:br>
              <a:rPr lang="en-IN" sz="4000" dirty="0"/>
            </a:br>
            <a:r>
              <a:rPr lang="en-IN" sz="4000" dirty="0">
                <a:solidFill>
                  <a:schemeClr val="accent1"/>
                </a:solidFill>
              </a:rPr>
              <a:t>VARDHAMAN COLLEGE OF ENGINEERING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sz="3600" dirty="0">
                <a:solidFill>
                  <a:schemeClr val="accent1"/>
                </a:solidFill>
              </a:rPr>
              <a:t>DEPARTMENT OF CSE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857" y="2209800"/>
            <a:ext cx="7783288" cy="4144963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dirty="0"/>
              <a:t>Mini Project Review - I</a:t>
            </a:r>
          </a:p>
          <a:p>
            <a:pPr marL="0" indent="0" algn="ctr">
              <a:buNone/>
            </a:pPr>
            <a:r>
              <a:rPr lang="en-US" dirty="0"/>
              <a:t>Title: Predictive Analytics for Cybercrime Complaints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Team No: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endParaRPr lang="en-US" u="sng" dirty="0"/>
          </a:p>
          <a:p>
            <a:pPr marL="0" indent="0" algn="ctr">
              <a:buNone/>
            </a:pPr>
            <a:r>
              <a:rPr lang="en-US" u="sng" dirty="0"/>
              <a:t>Guide Details</a:t>
            </a:r>
          </a:p>
          <a:p>
            <a:pPr marL="0" indent="0" algn="ctr">
              <a:buNone/>
            </a:pPr>
            <a:r>
              <a:rPr lang="en-US" dirty="0"/>
              <a:t>Ms. Ala Sowmya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dirty="0"/>
              <a:t>Assistant Professor</a:t>
            </a:r>
          </a:p>
          <a:p>
            <a:pPr marL="0" indent="0" algn="l">
              <a:buNone/>
              <a:defRPr sz="2400">
                <a:solidFill>
                  <a:srgbClr val="505050"/>
                </a:solidFill>
                <a:latin typeface="Calibri"/>
              </a:defRPr>
            </a:pPr>
            <a:endParaRPr lang="en-IN" dirty="0"/>
          </a:p>
          <a:p>
            <a:pPr marL="0" indent="0" algn="l">
              <a:buNone/>
              <a:defRPr sz="2400">
                <a:solidFill>
                  <a:srgbClr val="505050"/>
                </a:solidFill>
                <a:latin typeface="Calibri"/>
              </a:defRPr>
            </a:pPr>
            <a:endParaRPr lang="en-IN" dirty="0"/>
          </a:p>
          <a:p>
            <a:pPr algn="l">
              <a:defRPr sz="2400">
                <a:solidFill>
                  <a:srgbClr val="505050"/>
                </a:solidFill>
                <a:latin typeface="Calibri"/>
              </a:defRPr>
            </a:pP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4ABBD3-75E6-DEF6-F2AE-6B19BAF34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08627" y="6356350"/>
            <a:ext cx="4979963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FB7C7A2-344E-5673-0549-1169E8DDC3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444737"/>
              </p:ext>
            </p:extLst>
          </p:nvPr>
        </p:nvGraphicFramePr>
        <p:xfrm>
          <a:off x="870855" y="3769644"/>
          <a:ext cx="7136295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8765">
                  <a:extLst>
                    <a:ext uri="{9D8B030D-6E8A-4147-A177-3AD203B41FA5}">
                      <a16:colId xmlns:a16="http://schemas.microsoft.com/office/drawing/2014/main" val="193301951"/>
                    </a:ext>
                  </a:extLst>
                </a:gridCol>
                <a:gridCol w="2378765">
                  <a:extLst>
                    <a:ext uri="{9D8B030D-6E8A-4147-A177-3AD203B41FA5}">
                      <a16:colId xmlns:a16="http://schemas.microsoft.com/office/drawing/2014/main" val="4022276433"/>
                    </a:ext>
                  </a:extLst>
                </a:gridCol>
                <a:gridCol w="2378765">
                  <a:extLst>
                    <a:ext uri="{9D8B030D-6E8A-4147-A177-3AD203B41FA5}">
                      <a16:colId xmlns:a16="http://schemas.microsoft.com/office/drawing/2014/main" val="18846713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S.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Student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334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23881A05FK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G. SPANDANA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063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23881A05GJ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B. NITHIN BHARADWAJ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159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23881A05GJ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P. BIPIN RAJ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3441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Title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Background Research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Project Planning (Include Gantt Chart)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Literature Survey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Objectives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Project Milestone Tracker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Q&amp;A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094A53-70EB-1F06-12F6-AC289A775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6425" y="6356350"/>
            <a:ext cx="4642338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CF27310-56F4-13A8-B1EF-E6BA8A08E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Predictive Analytics for Cybercrime Complaints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Domain/Area: Web Based App &amp; Machine Learning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Type: Research + Application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Keywords: Extract features from URL, Train a Random Forest or SVM model on a dataset,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Cybercrime prediction, Crime pattern forecasting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4768DE-587D-DE97-B725-9F5DE6A49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8965" y="6356350"/>
            <a:ext cx="4994031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0127"/>
          </a:xfrm>
        </p:spPr>
        <p:txBody>
          <a:bodyPr>
            <a:noAutofit/>
          </a:bodyPr>
          <a:lstStyle/>
          <a:p>
            <a:br>
              <a:rPr lang="en-IN" dirty="0"/>
            </a:br>
            <a:r>
              <a:rPr lang="en-IN" dirty="0"/>
              <a:t>BACKGROUND RESEARCH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44C6200-7F8C-6552-9D91-86325FE7C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2576"/>
            <a:ext cx="8229600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browser extension or a web app that analyzes a URL in real-time to determine if it is legitimate or a phishing attempt. Why it’s impressive: Cybersecurity is a hot field. Using ML to predict security threats shows you can apply data science to real-world safety.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overview of existing systems or solutions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current cybercrime systems focus on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and post-incident investigation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Tools like cybercrime portals, SIEM platforms, and basic dashboards provide incident logs, alerts, and historical statistics. While useful, they mainly support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reactive cybersecurity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offering limited forecasting or predictive insights.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2BC60A-965B-FDE1-923B-150BCE303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08628" y="6356350"/>
            <a:ext cx="4754880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70AAC-0BDA-7351-E2A4-83AB85153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85191"/>
            <a:ext cx="8229600" cy="534097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gaps or challenges in existing work</a:t>
            </a:r>
          </a:p>
          <a:p>
            <a:pPr lvl="1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predictive analysis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forecast future cybercrime trends or hotspots.</a:t>
            </a:r>
          </a:p>
          <a:p>
            <a:pPr lvl="1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integration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temporal, spatial, and behavioral data.</a:t>
            </a:r>
          </a:p>
          <a:p>
            <a:pPr lvl="1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unified frameworks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combining classification, forecasting, and geospatial modeling.</a:t>
            </a:r>
          </a:p>
          <a:p>
            <a:pPr lvl="1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 are mostly static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offering minimal actionable intelligence.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behind the proposed work</a:t>
            </a:r>
          </a:p>
          <a:p>
            <a:pPr lvl="1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Cybercrime is increasing quickly, requiring a move from reactive to proactive approaches. A predictive system can help law enforcement anticipate incidents, identify hotspots, and allocate resources better. This project addresses existing gaps by offering integrated predictions and an interactive dashboard for smarter decision-making.</a:t>
            </a:r>
          </a:p>
          <a:p>
            <a:pPr>
              <a:lnSpc>
                <a:spcPct val="110000"/>
              </a:lnSpc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F1EE9A-AFA5-5E19-46AA-075751C05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</p:spTree>
    <p:extLst>
      <p:ext uri="{BB962C8B-B14F-4D97-AF65-F5344CB8AC3E}">
        <p14:creationId xmlns:p14="http://schemas.microsoft.com/office/powerpoint/2010/main" val="2419352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6543"/>
          </a:xfrm>
        </p:spPr>
        <p:txBody>
          <a:bodyPr>
            <a:normAutofit fontScale="90000"/>
          </a:bodyPr>
          <a:lstStyle/>
          <a:p>
            <a:r>
              <a:rPr lang="en-IN" dirty="0"/>
              <a:t>PROJECT PLANNING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4B5C62-F3BF-5D74-4430-48041390E8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1" y="1013552"/>
            <a:ext cx="8411376" cy="5342798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1D8E64-E73A-318D-234A-F0CDC8157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08627" y="6356350"/>
            <a:ext cx="5078437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927" y="-84150"/>
            <a:ext cx="8229600" cy="1033888"/>
          </a:xfrm>
        </p:spPr>
        <p:txBody>
          <a:bodyPr/>
          <a:lstStyle/>
          <a:p>
            <a:r>
              <a:rPr lang="en-IN" dirty="0"/>
              <a:t>LITERATURE SURVEY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59FE734-CC42-C885-5CCA-3774AA794B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4890002"/>
              </p:ext>
            </p:extLst>
          </p:nvPr>
        </p:nvGraphicFramePr>
        <p:xfrm>
          <a:off x="437708" y="1007857"/>
          <a:ext cx="8466038" cy="5571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244">
                  <a:extLst>
                    <a:ext uri="{9D8B030D-6E8A-4147-A177-3AD203B41FA5}">
                      <a16:colId xmlns:a16="http://schemas.microsoft.com/office/drawing/2014/main" val="4048337868"/>
                    </a:ext>
                  </a:extLst>
                </a:gridCol>
                <a:gridCol w="2196965">
                  <a:extLst>
                    <a:ext uri="{9D8B030D-6E8A-4147-A177-3AD203B41FA5}">
                      <a16:colId xmlns:a16="http://schemas.microsoft.com/office/drawing/2014/main" val="24165074"/>
                    </a:ext>
                  </a:extLst>
                </a:gridCol>
                <a:gridCol w="1513115">
                  <a:extLst>
                    <a:ext uri="{9D8B030D-6E8A-4147-A177-3AD203B41FA5}">
                      <a16:colId xmlns:a16="http://schemas.microsoft.com/office/drawing/2014/main" val="1117162474"/>
                    </a:ext>
                  </a:extLst>
                </a:gridCol>
                <a:gridCol w="1619794">
                  <a:extLst>
                    <a:ext uri="{9D8B030D-6E8A-4147-A177-3AD203B41FA5}">
                      <a16:colId xmlns:a16="http://schemas.microsoft.com/office/drawing/2014/main" val="4108360998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815876108"/>
                    </a:ext>
                  </a:extLst>
                </a:gridCol>
              </a:tblGrid>
              <a:tr h="451104">
                <a:tc>
                  <a:txBody>
                    <a:bodyPr/>
                    <a:lstStyle/>
                    <a:p>
                      <a:r>
                        <a:rPr lang="en-IN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Approach/Algorithm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Dataset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Key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Gaps Identified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457043"/>
                  </a:ext>
                </a:extLst>
              </a:tr>
              <a:tr h="2421157">
                <a:tc>
                  <a:txBody>
                    <a:bodyPr/>
                    <a:lstStyle/>
                    <a:p>
                      <a:r>
                        <a:rPr lang="en-US" dirty="0"/>
                        <a:t>Computational System to Classify Cyber Crime Offenses using Machine Learning (2020)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Support Vector Machine (SVM)</a:t>
                      </a:r>
                      <a:r>
                        <a:rPr lang="en-US" dirty="0"/>
                        <a:t>, Random Forest, and Decision Trees for text classification.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Kaggle Cybercrime Datasets.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SVM achieved the highest accuracy in distinguishing between "Violent" and "Non-Violent" 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model relies heavily on structured data and struggles with </a:t>
                      </a:r>
                      <a:r>
                        <a:rPr lang="en-US" b="1" dirty="0"/>
                        <a:t>unstructured text</a:t>
                      </a:r>
                      <a:r>
                        <a:rPr lang="en-US" dirty="0"/>
                        <a:t> without heavy pre-processing.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226066"/>
                  </a:ext>
                </a:extLst>
              </a:tr>
              <a:tr h="2421157">
                <a:tc>
                  <a:txBody>
                    <a:bodyPr/>
                    <a:lstStyle/>
                    <a:p>
                      <a:r>
                        <a:rPr lang="en-US" dirty="0"/>
                        <a:t>Cybercrime: Identification and Prediction Using Machine Learning Techniques (2022)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K-Means Clustering</a:t>
                      </a:r>
                      <a:r>
                        <a:rPr lang="en-US" dirty="0"/>
                        <a:t> (Unsupervised Learning) &amp; Gaussian Mixture Models.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CBS Open Data </a:t>
                      </a:r>
                      <a:r>
                        <a:rPr lang="en-US" b="1" dirty="0" err="1"/>
                        <a:t>StatLine</a:t>
                      </a:r>
                      <a:r>
                        <a:rPr lang="en-US" dirty="0"/>
                        <a:t> (National Crime Statistics).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Unsupervised clustering  identified new patterns of fraud that did not fit into pre-existing categories.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detection rate for </a:t>
                      </a:r>
                      <a:r>
                        <a:rPr lang="en-US" b="1" dirty="0"/>
                        <a:t>unsupervised methods</a:t>
                      </a:r>
                      <a:r>
                        <a:rPr lang="en-US" dirty="0"/>
                        <a:t> (76%) was significantly lower than supervised methods.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399376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C26EE8-8FBF-1459-69A0-0D4BA26B2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9643" y="6356350"/>
            <a:ext cx="4656405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en-IN" dirty="0"/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29B2E81-1771-2931-0CE7-8A2F24622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clear and measurable objectives: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predictive model that forecasts future cybercrime incidents using historical complaint data.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geospatial hotspots by applying clustering techniques to detect high-risk regions.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an interactive dashboard that visualizes predictions, trends, and risk zones for improved decision-making.</a:t>
            </a:r>
          </a:p>
          <a:p>
            <a:pPr marL="0" indent="0"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4E8448-2A11-46F9-CD08-14330D65B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7107" y="6356350"/>
            <a:ext cx="6077243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9D8FA78-203C-3999-228C-A191F2818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IN" dirty="0"/>
              <a:t>PROJECT MILESTONE TRACKER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C6B91BC-1A43-AAF1-7378-5C89AC289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Paste Scanned Copy of Handbook Page No:3(Signed)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1470FD3-2494-BCB3-5E7D-7377F181E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97612" y="6356350"/>
            <a:ext cx="5022166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/>
          <a:lstStyle/>
          <a:p>
            <a:r>
              <a:rPr lang="en-IN" dirty="0"/>
              <a:t>Q&amp;A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FF14F-C4CF-4927-A9AB-9BF4C2995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59" y="6356350"/>
            <a:ext cx="6091311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628</Words>
  <Application>Microsoft Office PowerPoint</Application>
  <PresentationFormat>On-screen Show (4:3)</PresentationFormat>
  <Paragraphs>85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Courier New</vt:lpstr>
      <vt:lpstr>Times New Roman</vt:lpstr>
      <vt:lpstr>Office Theme</vt:lpstr>
      <vt:lpstr>  VARDHAMAN COLLEGE OF ENGINEERING DEPARTMENT OF CSE</vt:lpstr>
      <vt:lpstr>Table of Contents</vt:lpstr>
      <vt:lpstr>TITLE</vt:lpstr>
      <vt:lpstr> BACKGROUND RESEARCH</vt:lpstr>
      <vt:lpstr>PowerPoint Presentation</vt:lpstr>
      <vt:lpstr>PROJECT PLANNING</vt:lpstr>
      <vt:lpstr>LITERATURE SURVEY</vt:lpstr>
      <vt:lpstr>OBJECTIVES</vt:lpstr>
      <vt:lpstr>PROJECT MILESTONE TRACKER</vt:lpstr>
      <vt:lpstr>Q&amp;A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VARDHAMAN COLLEGE OF ENGINEERING DEPARTMENT OF AIML &amp; AIDS</dc:title>
  <dc:creator>MANISH CHHABRA</dc:creator>
  <dc:description>generated using python-pptx</dc:description>
  <cp:lastModifiedBy>Spandana Gudikandula</cp:lastModifiedBy>
  <cp:revision>12</cp:revision>
  <dcterms:created xsi:type="dcterms:W3CDTF">2013-01-27T09:14:16Z</dcterms:created>
  <dcterms:modified xsi:type="dcterms:W3CDTF">2025-12-01T16:41:38Z</dcterms:modified>
</cp:coreProperties>
</file>