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1" r:id="rId7"/>
    <p:sldId id="270" r:id="rId8"/>
    <p:sldId id="262" r:id="rId9"/>
    <p:sldId id="271" r:id="rId10"/>
    <p:sldId id="260" r:id="rId11"/>
    <p:sldId id="272" r:id="rId12"/>
    <p:sldId id="273" r:id="rId13"/>
    <p:sldId id="268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E769C-B82C-4EBF-AFDE-30368C9013FA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EC1C6-DC07-4644-8E97-0F093327BA8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7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6E1A-79D4-4D66-96A9-02641756F64C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006F6-D2CD-4DB9-9FF0-408322DF33B8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CE2A9-81E9-C415-C441-00DB3510A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4547" y="155369"/>
            <a:ext cx="1030488" cy="8050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E974FA-3FFF-7EB8-AC73-B693063A5F2A}"/>
              </a:ext>
            </a:extLst>
          </p:cNvPr>
          <p:cNvSpPr/>
          <p:nvPr userDrawn="1"/>
        </p:nvSpPr>
        <p:spPr>
          <a:xfrm>
            <a:off x="59634" y="52318"/>
            <a:ext cx="8994913" cy="6805681"/>
          </a:xfrm>
          <a:prstGeom prst="rect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F3E0-320B-4D14-8163-71670D2A8714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264D-EDA7-4520-847D-75D428A23488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B296-D3D6-4976-914C-C0AA2A364825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4B5E-B29E-44C1-B11E-DFB87F8CBE91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3388D-7596-40C4-8D6A-FBC9A5300160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444E-C341-47B3-8EF7-7471E07CEE7E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8120A-6733-425C-9AB1-AC6938AE6D96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B8F7-A5B2-4141-99E2-A507119EDB81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4DE0-104F-4C7B-9332-ADB8CD27A54A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EE183-FF20-4E68-A843-2ACC3178A355}" type="datetime1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AIML &amp; AIDS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345" y="0"/>
            <a:ext cx="8251370" cy="1107849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0000"/>
                </a:solidFill>
                <a:latin typeface="Calibri"/>
              </a:defRPr>
            </a:pPr>
            <a:br>
              <a:rPr lang="en-IN" sz="4000" dirty="0"/>
            </a:br>
            <a:br>
              <a:rPr lang="en-IN" sz="4000" dirty="0"/>
            </a:br>
            <a:r>
              <a:rPr lang="en-IN" sz="27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VARDHAMAN COLLEGE OF ENGINEERING</a:t>
            </a:r>
            <a:br>
              <a:rPr lang="en-IN" sz="3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927" y="1715514"/>
            <a:ext cx="7783288" cy="459679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 – II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KhelQuest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AI–Powered Platform for Democratizing Sports.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 H10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u="sng" dirty="0"/>
          </a:p>
          <a:p>
            <a:pPr marL="0" indent="0" algn="ctr">
              <a:buNone/>
            </a:pPr>
            <a:endParaRPr lang="en-US"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9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Details</a:t>
            </a:r>
          </a:p>
          <a:p>
            <a:pPr marL="0" indent="0" algn="ctr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M. Sowmya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 dirty="0"/>
          </a:p>
          <a:p>
            <a:pPr marL="0" indent="0" algn="l">
              <a:buNone/>
              <a:defRPr sz="2400">
                <a:solidFill>
                  <a:srgbClr val="505050"/>
                </a:solidFill>
                <a:latin typeface="Calibri"/>
              </a:defRPr>
            </a:pPr>
            <a:endParaRPr lang="en-IN" dirty="0"/>
          </a:p>
          <a:p>
            <a:pPr algn="l">
              <a:defRPr sz="2400">
                <a:solidFill>
                  <a:srgbClr val="505050"/>
                </a:solidFill>
                <a:latin typeface="Calibri"/>
              </a:defRPr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ABBD3-75E6-DEF6-F2AE-6B19BAF3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2018" y="6312309"/>
            <a:ext cx="4979963" cy="365125"/>
          </a:xfrm>
        </p:spPr>
        <p:txBody>
          <a:bodyPr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B7C7A2-344E-5673-0549-1169E8DD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205219"/>
              </p:ext>
            </p:extLst>
          </p:nvPr>
        </p:nvGraphicFramePr>
        <p:xfrm>
          <a:off x="793214" y="3318093"/>
          <a:ext cx="753435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716">
                  <a:extLst>
                    <a:ext uri="{9D8B030D-6E8A-4147-A177-3AD203B41FA5}">
                      <a16:colId xmlns:a16="http://schemas.microsoft.com/office/drawing/2014/main" val="193301951"/>
                    </a:ext>
                  </a:extLst>
                </a:gridCol>
                <a:gridCol w="2324559">
                  <a:extLst>
                    <a:ext uri="{9D8B030D-6E8A-4147-A177-3AD203B41FA5}">
                      <a16:colId xmlns:a16="http://schemas.microsoft.com/office/drawing/2014/main" val="4022276433"/>
                    </a:ext>
                  </a:extLst>
                </a:gridCol>
                <a:gridCol w="3436082">
                  <a:extLst>
                    <a:ext uri="{9D8B030D-6E8A-4147-A177-3AD203B41FA5}">
                      <a16:colId xmlns:a16="http://schemas.microsoft.com/office/drawing/2014/main" val="18846713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3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23881A05FK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SPANDANA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06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23881A05GJ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NITHIN BHARADWAJ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159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23881A05GL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BIPIN RAJ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44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Title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 Research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Planning (Include Gantt Chart)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Literature Survey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Objectives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Project Milestone Tracker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Q&amp;A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94A53-70EB-1F06-12F6-AC289A77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425" y="6356350"/>
            <a:ext cx="4642338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18904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KhelQuest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AI–Powered Platform 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Democratizing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Sports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F27310-56F4-13A8-B1EF-E6BA8A08E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08" y="1999178"/>
            <a:ext cx="8229600" cy="45259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KhelQuest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AI–Powered Platform for Democratizing Sports.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Domain/Area: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(AI), Machine Learning (ML), Sports Analytics.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Application-Based Project.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Sports, Talent Identification, Smartphone-based Analysis, Computer Vision, Cloud Analytics.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768DE-587D-DE97-B725-9F5DE6A4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8965" y="6356350"/>
            <a:ext cx="499403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A40172A-DF0A-8A1D-C384-125CA08E2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0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A03B33C-6FF3-8CFD-8A50-0FA36B2F2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64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RESEARCH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4C6200-7F8C-6552-9D91-86325FE7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Systems: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Traditional sports talent identification systems: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expensive equipment like force plates, sensors, and motion capture systems.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trained professionals and specialized training centers.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mostly available in urban areas.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manual evaluation, which is time-consuming and biased.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and Challenges: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equal opportunities for all athletes.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equipment and infrastructure.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bias in evaluation.</a:t>
            </a: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feedback for athletes.</a:t>
            </a: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secure and verified performance data.</a:t>
            </a:r>
          </a:p>
          <a:p>
            <a:pPr lvl="1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BC60A-965B-FDE1-923B-150BCE30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8" y="6356350"/>
            <a:ext cx="4754880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F36EA-041B-4A91-7388-D4859EBEA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1300" y="6340475"/>
            <a:ext cx="3581400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4EE9EC-B5B2-5252-1DEF-B424CDD23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086" y="1236116"/>
            <a:ext cx="6843476" cy="2930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 algn="just">
              <a:buNone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the Project: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motivation behind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KhelQuest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democratize sports talent identification.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AI and smartphones to replace costly equipment.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transparent and unbiased evaluation.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athletes improve performance through instant feedback.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India’s vision of nurturing sports talent.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880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488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54AD31-4BFC-484B-7B6C-70B45C856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764495"/>
            <a:ext cx="8229600" cy="4525963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Phase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AI in sports and computer vision techniques.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existing systems and technologies.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literature related to pose estimation and video analysis.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Phase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 architecture.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AI models and cloud platform.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user interface and workflow.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Phase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application for athletes.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movement analysis.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cloud storage and dashboards.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 of AI models.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performance evaluation.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usability on low-end devices and low connectivity.</a:t>
            </a:r>
          </a:p>
          <a:p>
            <a:pPr marL="457200" lvl="1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D8E64-E73A-318D-234A-F0CDC815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8627" y="6356350"/>
            <a:ext cx="5078437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1E998-6801-5016-3591-4BD913BF9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525"/>
            <a:ext cx="8229600" cy="539353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CF012-8898-3A08-01FB-312A344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7500" y="6356350"/>
            <a:ext cx="3676650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25180-C776-A201-64FE-3CF7C40E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066801"/>
            <a:ext cx="7924800" cy="52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56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370" y="136885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59FE734-CC42-C885-5CCA-3774AA794B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72862"/>
              </p:ext>
            </p:extLst>
          </p:nvPr>
        </p:nvGraphicFramePr>
        <p:xfrm>
          <a:off x="319489" y="1211855"/>
          <a:ext cx="8582141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245">
                  <a:extLst>
                    <a:ext uri="{9D8B030D-6E8A-4147-A177-3AD203B41FA5}">
                      <a16:colId xmlns:a16="http://schemas.microsoft.com/office/drawing/2014/main" val="4048337868"/>
                    </a:ext>
                  </a:extLst>
                </a:gridCol>
                <a:gridCol w="2295355">
                  <a:extLst>
                    <a:ext uri="{9D8B030D-6E8A-4147-A177-3AD203B41FA5}">
                      <a16:colId xmlns:a16="http://schemas.microsoft.com/office/drawing/2014/main" val="24165074"/>
                    </a:ext>
                  </a:extLst>
                </a:gridCol>
                <a:gridCol w="1518930">
                  <a:extLst>
                    <a:ext uri="{9D8B030D-6E8A-4147-A177-3AD203B41FA5}">
                      <a16:colId xmlns:a16="http://schemas.microsoft.com/office/drawing/2014/main" val="1117162474"/>
                    </a:ext>
                  </a:extLst>
                </a:gridCol>
                <a:gridCol w="1689183">
                  <a:extLst>
                    <a:ext uri="{9D8B030D-6E8A-4147-A177-3AD203B41FA5}">
                      <a16:colId xmlns:a16="http://schemas.microsoft.com/office/drawing/2014/main" val="4108360998"/>
                    </a:ext>
                  </a:extLst>
                </a:gridCol>
                <a:gridCol w="1716428">
                  <a:extLst>
                    <a:ext uri="{9D8B030D-6E8A-4147-A177-3AD203B41FA5}">
                      <a16:colId xmlns:a16="http://schemas.microsoft.com/office/drawing/2014/main" val="3815876108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57043"/>
                  </a:ext>
                </a:extLst>
              </a:tr>
              <a:tr h="2234356"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Review of Vision-Based Motion Analysis in Sport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(Barris &amp; Button, 2008)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vision–based motion tracking using video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 activity video recordings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Vision-based systems can analyze athlete movement without physical sensors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cost; not optimized for mobile or low-resource environments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26066"/>
                  </a:ext>
                </a:extLst>
              </a:tr>
              <a:tr h="2234356">
                <a:tc>
                  <a:txBody>
                    <a:bodyPr/>
                    <a:lstStyle/>
                    <a:p>
                      <a:r>
                        <a:rPr lang="en-IN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OpenPose</a:t>
                      </a:r>
                      <a:r>
                        <a:rPr lang="en-IN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Realtime Multi-Person 2D Pose Estimation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(Cao et al., 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CNN-based pose estimation using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keypoint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COCO Dataset, MPII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real-time pose detection for multiple users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processing power; limited mobile deployment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8541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26EE8-8FBF-1459-69A0-0D4BA26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5047-B1C3-D04F-C47C-AC7EC4EF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EC52-70EC-AE3C-7858-AB206EC4A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70" y="136885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72FFBBC-ED9B-1015-1809-435815B6B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389109"/>
              </p:ext>
            </p:extLst>
          </p:nvPr>
        </p:nvGraphicFramePr>
        <p:xfrm>
          <a:off x="319489" y="1211855"/>
          <a:ext cx="8582141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245">
                  <a:extLst>
                    <a:ext uri="{9D8B030D-6E8A-4147-A177-3AD203B41FA5}">
                      <a16:colId xmlns:a16="http://schemas.microsoft.com/office/drawing/2014/main" val="4048337868"/>
                    </a:ext>
                  </a:extLst>
                </a:gridCol>
                <a:gridCol w="2295355">
                  <a:extLst>
                    <a:ext uri="{9D8B030D-6E8A-4147-A177-3AD203B41FA5}">
                      <a16:colId xmlns:a16="http://schemas.microsoft.com/office/drawing/2014/main" val="24165074"/>
                    </a:ext>
                  </a:extLst>
                </a:gridCol>
                <a:gridCol w="1518930">
                  <a:extLst>
                    <a:ext uri="{9D8B030D-6E8A-4147-A177-3AD203B41FA5}">
                      <a16:colId xmlns:a16="http://schemas.microsoft.com/office/drawing/2014/main" val="1117162474"/>
                    </a:ext>
                  </a:extLst>
                </a:gridCol>
                <a:gridCol w="1689183">
                  <a:extLst>
                    <a:ext uri="{9D8B030D-6E8A-4147-A177-3AD203B41FA5}">
                      <a16:colId xmlns:a16="http://schemas.microsoft.com/office/drawing/2014/main" val="4108360998"/>
                    </a:ext>
                  </a:extLst>
                </a:gridCol>
                <a:gridCol w="1716428">
                  <a:extLst>
                    <a:ext uri="{9D8B030D-6E8A-4147-A177-3AD203B41FA5}">
                      <a16:colId xmlns:a16="http://schemas.microsoft.com/office/drawing/2014/main" val="3815876108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Approach/Algorithm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57043"/>
                  </a:ext>
                </a:extLst>
              </a:tr>
              <a:tr h="1008063">
                <a:tc>
                  <a:txBody>
                    <a:bodyPr/>
                    <a:lstStyle/>
                    <a:p>
                      <a:r>
                        <a:rPr lang="en-US" i="1" dirty="0"/>
                        <a:t>Machine Learning Applications in Sports Performance Analysis</a:t>
                      </a:r>
                      <a:r>
                        <a:rPr lang="en-US" dirty="0"/>
                        <a:t> (IEEE Xplore)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models for performance prediction and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Sports performance datasets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 improves objectivity and reduces human bias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focused on elite athletes and controlled environments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26066"/>
                  </a:ext>
                </a:extLst>
              </a:tr>
              <a:tr h="1008063">
                <a:tc>
                  <a:txBody>
                    <a:bodyPr/>
                    <a:lstStyle/>
                    <a:p>
                      <a:r>
                        <a:rPr lang="en-US" i="1" dirty="0"/>
                        <a:t>Analysis of Accuracy of Vertical Jump Using Low-Cost Systems</a:t>
                      </a:r>
                      <a:r>
                        <a:rPr lang="en-US" dirty="0"/>
                        <a:t> (2023)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Video-based jump height estimation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Vertical jump test videos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Smartphone-based systems can reliably measure jumps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scalability and no centralized data management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07482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39407-C151-83CC-27AB-628AA81F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643" y="6356350"/>
            <a:ext cx="4656405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107590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9B2E81-1771-2931-0CE7-8A2F24622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sports talent identification accessible to all athletes.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replace expensive equipment with AI-based video analysis.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fair and unbiased evaluation using AI.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feedback to athletes for performance improvement.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store athlete performance data in the cloud.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analytics and dashboards for coaches and sports authorities.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platform works in rural and low-connectivity areas.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contribute to India’s sports ecosystem and talent development.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E8448-2A11-46F9-CD08-14330D65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7107" y="6356350"/>
            <a:ext cx="6077243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E5B70-057B-D81C-E645-A6B06684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7EF029-FDF7-DEF6-E84B-26D5DF489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64771"/>
            <a:ext cx="8229600" cy="4944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684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C4C5F-E0D4-A3FC-82AC-E9EA0939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AIML &amp; AIDS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70124-6F7D-CF8E-F195-CDB1B6977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6" y="1077686"/>
            <a:ext cx="7750629" cy="4952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554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D8FA78-203C-3999-228C-A191F281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PROJECT MILESTONE TRACKER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C6B91BC-1A43-AAF1-7378-5C89AC289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Paste Scanned Copy of Handbook Page No:3(Signed)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470FD3-2494-BCB3-5E7D-7377F181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7612" y="6356350"/>
            <a:ext cx="5022166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IN" dirty="0"/>
              <a:t>Q&amp;A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FF14F-C4CF-4927-A9AB-9BF4C299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59" y="6356350"/>
            <a:ext cx="6091311" cy="365125"/>
          </a:xfrm>
        </p:spPr>
        <p:txBody>
          <a:bodyPr/>
          <a:lstStyle/>
          <a:p>
            <a:r>
              <a:rPr lang="en-US" b="1" dirty="0"/>
              <a:t>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760</Words>
  <Application>Microsoft Office PowerPoint</Application>
  <PresentationFormat>On-screen Show (4:3)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 VARDHAMAN COLLEGE OF ENGINEERING DEPARTMENT OF CSE</vt:lpstr>
      <vt:lpstr>Table of Contents</vt:lpstr>
      <vt:lpstr>KhelQuest: AI–Powered Platform  for Democratizing Sports</vt:lpstr>
      <vt:lpstr>BACKGROUND RESEARCH</vt:lpstr>
      <vt:lpstr>PowerPoint Presentation</vt:lpstr>
      <vt:lpstr>PROJECT PLANNING</vt:lpstr>
      <vt:lpstr>PowerPoint Presentation</vt:lpstr>
      <vt:lpstr>LITERATURE SURVEY</vt:lpstr>
      <vt:lpstr>LITERATURE SURVEY</vt:lpstr>
      <vt:lpstr>OBJECTIVES</vt:lpstr>
      <vt:lpstr>PowerPoint Presentation</vt:lpstr>
      <vt:lpstr>PowerPoint Presentation</vt:lpstr>
      <vt:lpstr>PROJECT MILESTONE TRACKER</vt:lpstr>
      <vt:lpstr>Q&amp;A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VARDHAMAN COLLEGE OF ENGINEERING DEPARTMENT OF AIML &amp; AIDS</dc:title>
  <dc:creator>MANISH CHHABRA</dc:creator>
  <dc:description>generated using python-pptx</dc:description>
  <cp:lastModifiedBy>Spandana Gudikandula</cp:lastModifiedBy>
  <cp:revision>18</cp:revision>
  <dcterms:created xsi:type="dcterms:W3CDTF">2013-01-27T09:14:16Z</dcterms:created>
  <dcterms:modified xsi:type="dcterms:W3CDTF">2026-02-06T05:29:14Z</dcterms:modified>
</cp:coreProperties>
</file>